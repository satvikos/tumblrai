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Roboto Bold" charset="1" panose="02000000000000000000"/>
      <p:regular r:id="rId24"/>
    </p:embeddedFont>
    <p:embeddedFont>
      <p:font typeface="Georgia Pro" charset="1" panose="02040502050405020303"/>
      <p:regular r:id="rId25"/>
    </p:embeddedFont>
    <p:embeddedFont>
      <p:font typeface="Inter" charset="1" panose="020B0502030000000004"/>
      <p:regular r:id="rId26"/>
    </p:embeddedFont>
    <p:embeddedFont>
      <p:font typeface="TT Interphases Bold" charset="1" panose="02000803060000020004"/>
      <p:regular r:id="rId27"/>
    </p:embeddedFont>
    <p:embeddedFont>
      <p:font typeface="Inter Bold" charset="1" panose="020B0802030000000004"/>
      <p:regular r:id="rId28"/>
    </p:embeddedFont>
    <p:embeddedFont>
      <p:font typeface="Poppins" charset="1" panose="00000500000000000000"/>
      <p:regular r:id="rId29"/>
    </p:embeddedFont>
    <p:embeddedFont>
      <p:font typeface="Bricolage Grotesque Bold" charset="1" panose="020B0605040402000204"/>
      <p:regular r:id="rId30"/>
    </p:embeddedFont>
    <p:embeddedFont>
      <p:font typeface="Anton" charset="1" panose="00000500000000000000"/>
      <p:regular r:id="rId31"/>
    </p:embeddedFont>
    <p:embeddedFont>
      <p:font typeface="Canva Sans Bold" charset="1" panose="020B0803030501040103"/>
      <p:regular r:id="rId34"/>
    </p:embeddedFont>
    <p:embeddedFont>
      <p:font typeface="Poppins Bold" charset="1" panose="00000800000000000000"/>
      <p:regular r:id="rId35"/>
    </p:embeddedFont>
    <p:embeddedFont>
      <p:font typeface="Bricolage Grotesque" charset="1" panose="020B0605040402000204"/>
      <p:regular r:id="rId36"/>
    </p:embeddedFont>
    <p:embeddedFont>
      <p:font typeface="Canva Sans" charset="1" panose="020B0503030501040103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9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10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11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2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/Relationships>
</file>

<file path=ppt/slides/_rels/slide15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/Relationships>
</file>

<file path=ppt/slides/_rels/slide16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umblr-ai.vercel.app/app" TargetMode="External" Type="http://schemas.openxmlformats.org/officeDocument/2006/relationships/hyperlink"/></Relationships>
</file>

<file path=ppt/slides/_rels/slide18.xml.rels><?xml version="1.0" encoding="UTF-8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28578" y="-7837248"/>
            <a:ext cx="23751801" cy="10443500"/>
          </a:xfrm>
          <a:custGeom>
            <a:avLst/>
            <a:gdLst/>
            <a:ahLst/>
            <a:cxnLst/>
            <a:rect r="r" b="b" t="t" l="l"/>
            <a:pathLst>
              <a:path h="10443500" w="23751801">
                <a:moveTo>
                  <a:pt x="0" y="0"/>
                </a:moveTo>
                <a:lnTo>
                  <a:pt x="23751801" y="0"/>
                </a:lnTo>
                <a:lnTo>
                  <a:pt x="23751801" y="10443500"/>
                </a:lnTo>
                <a:lnTo>
                  <a:pt x="0" y="104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4894" y="3690513"/>
            <a:ext cx="17566470" cy="230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5"/>
              </a:lnSpc>
            </a:pPr>
            <a:r>
              <a:rPr lang="en-US" b="true" sz="95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Notecount.AI</a:t>
            </a:r>
          </a:p>
          <a:p>
            <a:pPr algn="ctr">
              <a:lnSpc>
                <a:spcPts val="873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5109678" y="2991029"/>
            <a:ext cx="1148117" cy="1148117"/>
          </a:xfrm>
          <a:custGeom>
            <a:avLst/>
            <a:gdLst/>
            <a:ahLst/>
            <a:cxnLst/>
            <a:rect r="r" b="b" t="t" l="l"/>
            <a:pathLst>
              <a:path h="1148117" w="1148117">
                <a:moveTo>
                  <a:pt x="0" y="0"/>
                </a:moveTo>
                <a:lnTo>
                  <a:pt x="1148117" y="0"/>
                </a:lnTo>
                <a:lnTo>
                  <a:pt x="1148117" y="1148117"/>
                </a:lnTo>
                <a:lnTo>
                  <a:pt x="0" y="1148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208453" y="7198234"/>
            <a:ext cx="18032911" cy="206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700" spc="49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Presented by: </a:t>
            </a:r>
          </a:p>
          <a:p>
            <a:pPr algn="ctr">
              <a:lnSpc>
                <a:spcPts val="3294"/>
              </a:lnSpc>
            </a:pPr>
          </a:p>
          <a:p>
            <a:pPr algn="ctr">
              <a:lnSpc>
                <a:spcPts val="3294"/>
              </a:lnSpc>
            </a:pPr>
            <a:r>
              <a:rPr lang="en-US" sz="2700" spc="49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Jinnan Meng, Mingyang Liu, Naushin Adnin,  Ruofan Wang , </a:t>
            </a:r>
          </a:p>
          <a:p>
            <a:pPr algn="ctr">
              <a:lnSpc>
                <a:spcPts val="3294"/>
              </a:lnSpc>
            </a:pPr>
            <a:r>
              <a:rPr lang="en-US" sz="2700" spc="49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Satvik Adyanthaya , Tianyu Chu</a:t>
            </a:r>
          </a:p>
          <a:p>
            <a:pPr algn="ctr">
              <a:lnSpc>
                <a:spcPts val="329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015760" y="9277530"/>
            <a:ext cx="688473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Date of Submission: 04/30/2026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2119" y="4927602"/>
            <a:ext cx="12957932" cy="106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1"/>
              </a:lnSpc>
            </a:pPr>
            <a:r>
              <a:rPr lang="en-US" b="true" sz="4599" spc="-225">
                <a:solidFill>
                  <a:srgbClr val="192A4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Client Name:</a:t>
            </a:r>
            <a:r>
              <a:rPr lang="en-US" b="true" sz="4599" spc="-225">
                <a:solidFill>
                  <a:srgbClr val="192A42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Tumblr</a:t>
            </a:r>
          </a:p>
          <a:p>
            <a:pPr algn="ctr">
              <a:lnSpc>
                <a:spcPts val="4001"/>
              </a:lnSpc>
            </a:pPr>
          </a:p>
        </p:txBody>
      </p:sp>
      <p:sp>
        <p:nvSpPr>
          <p:cNvPr name="AutoShape 8" id="8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-5400000">
            <a:off x="12818949" y="4431909"/>
            <a:ext cx="729305" cy="566206"/>
          </a:xfrm>
          <a:custGeom>
            <a:avLst/>
            <a:gdLst/>
            <a:ahLst/>
            <a:cxnLst/>
            <a:rect r="r" b="b" t="t" l="l"/>
            <a:pathLst>
              <a:path h="566206" w="729305">
                <a:moveTo>
                  <a:pt x="0" y="0"/>
                </a:moveTo>
                <a:lnTo>
                  <a:pt x="729306" y="0"/>
                </a:lnTo>
                <a:lnTo>
                  <a:pt x="729306" y="566206"/>
                </a:lnTo>
                <a:lnTo>
                  <a:pt x="0" y="5662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46501" y="793678"/>
            <a:ext cx="10949167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CIS 434: Social Media and Text Analytics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565944" y="5257974"/>
            <a:ext cx="757697" cy="783334"/>
          </a:xfrm>
          <a:custGeom>
            <a:avLst/>
            <a:gdLst/>
            <a:ahLst/>
            <a:cxnLst/>
            <a:rect r="r" b="b" t="t" l="l"/>
            <a:pathLst>
              <a:path h="783334" w="757697">
                <a:moveTo>
                  <a:pt x="0" y="0"/>
                </a:moveTo>
                <a:lnTo>
                  <a:pt x="757697" y="0"/>
                </a:lnTo>
                <a:lnTo>
                  <a:pt x="757697" y="783333"/>
                </a:lnTo>
                <a:lnTo>
                  <a:pt x="0" y="783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7592" y="5356431"/>
            <a:ext cx="1154611" cy="672058"/>
          </a:xfrm>
          <a:custGeom>
            <a:avLst/>
            <a:gdLst/>
            <a:ahLst/>
            <a:cxnLst/>
            <a:rect r="r" b="b" t="t" l="l"/>
            <a:pathLst>
              <a:path h="672058" w="1154611">
                <a:moveTo>
                  <a:pt x="0" y="0"/>
                </a:moveTo>
                <a:lnTo>
                  <a:pt x="1154611" y="0"/>
                </a:lnTo>
                <a:lnTo>
                  <a:pt x="1154611" y="672058"/>
                </a:lnTo>
                <a:lnTo>
                  <a:pt x="0" y="672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73719" y="5229559"/>
            <a:ext cx="817057" cy="840162"/>
          </a:xfrm>
          <a:custGeom>
            <a:avLst/>
            <a:gdLst/>
            <a:ahLst/>
            <a:cxnLst/>
            <a:rect r="r" b="b" t="t" l="l"/>
            <a:pathLst>
              <a:path h="840162" w="817057">
                <a:moveTo>
                  <a:pt x="0" y="0"/>
                </a:moveTo>
                <a:lnTo>
                  <a:pt x="817057" y="0"/>
                </a:lnTo>
                <a:lnTo>
                  <a:pt x="817057" y="840163"/>
                </a:lnTo>
                <a:lnTo>
                  <a:pt x="0" y="840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93738" y="5229559"/>
            <a:ext cx="956575" cy="956575"/>
          </a:xfrm>
          <a:custGeom>
            <a:avLst/>
            <a:gdLst/>
            <a:ahLst/>
            <a:cxnLst/>
            <a:rect r="r" b="b" t="t" l="l"/>
            <a:pathLst>
              <a:path h="956575" w="956575">
                <a:moveTo>
                  <a:pt x="0" y="0"/>
                </a:moveTo>
                <a:lnTo>
                  <a:pt x="956575" y="0"/>
                </a:lnTo>
                <a:lnTo>
                  <a:pt x="956575" y="956575"/>
                </a:lnTo>
                <a:lnTo>
                  <a:pt x="0" y="9565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870591" y="2043369"/>
            <a:ext cx="4879723" cy="2744844"/>
          </a:xfrm>
          <a:custGeom>
            <a:avLst/>
            <a:gdLst/>
            <a:ahLst/>
            <a:cxnLst/>
            <a:rect r="r" b="b" t="t" l="l"/>
            <a:pathLst>
              <a:path h="2744844" w="4879723">
                <a:moveTo>
                  <a:pt x="0" y="0"/>
                </a:moveTo>
                <a:lnTo>
                  <a:pt x="4879722" y="0"/>
                </a:lnTo>
                <a:lnTo>
                  <a:pt x="4879722" y="2744844"/>
                </a:lnTo>
                <a:lnTo>
                  <a:pt x="0" y="27448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6885" y="497758"/>
            <a:ext cx="15574230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Tumblr at a Glance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9696" y="7611417"/>
            <a:ext cx="3425102" cy="229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1"/>
              </a:lnSpc>
            </a:pPr>
            <a:r>
              <a:rPr lang="en-US" sz="2324" spc="-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Large-scale microblogging platform for short-form content: text, images, GIFs, videos &amp; links.</a:t>
            </a:r>
          </a:p>
          <a:p>
            <a:pPr algn="ctr">
              <a:lnSpc>
                <a:spcPts val="302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368184" y="7611417"/>
            <a:ext cx="3004813" cy="229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1"/>
              </a:lnSpc>
            </a:pPr>
            <a:r>
              <a:rPr lang="en-US" sz="2324" spc="-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Content diffusion driven by reblogging, tagging, and following mechanisms.</a:t>
            </a:r>
          </a:p>
          <a:p>
            <a:pPr algn="ctr">
              <a:lnSpc>
                <a:spcPts val="302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53340" y="7611417"/>
            <a:ext cx="3425102" cy="229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1"/>
              </a:lnSpc>
            </a:pPr>
            <a:r>
              <a:rPr lang="en-US" sz="2324" spc="-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Highly unstructured, text-heavy posts make moderation and analytics expensive at scale.</a:t>
            </a:r>
          </a:p>
          <a:p>
            <a:pPr algn="ctr">
              <a:lnSpc>
                <a:spcPts val="302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300158" y="7611417"/>
            <a:ext cx="3425102" cy="2675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1"/>
              </a:lnSpc>
            </a:pPr>
            <a:r>
              <a:rPr lang="en-US" sz="2324" spc="-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Limited automated tools for creators to understand performance, audience, &amp; engagement.</a:t>
            </a:r>
          </a:p>
          <a:p>
            <a:pPr algn="ctr">
              <a:lnSpc>
                <a:spcPts val="302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30855" y="6924421"/>
            <a:ext cx="3529193" cy="53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b="true" sz="3153" spc="-20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PLATFORM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74110" y="6924421"/>
            <a:ext cx="3529193" cy="53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b="true" sz="3153" spc="-20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CONTENT SPREAD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17365" y="6924421"/>
            <a:ext cx="3529193" cy="53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b="true" sz="3153" spc="-20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CORE CHALLENGE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64184" y="6924421"/>
            <a:ext cx="3529193" cy="53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b="true" sz="3153" spc="-20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ANALYTICS GAP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28788" y="3910848"/>
            <a:ext cx="3876452" cy="3771675"/>
          </a:xfrm>
          <a:custGeom>
            <a:avLst/>
            <a:gdLst/>
            <a:ahLst/>
            <a:cxnLst/>
            <a:rect r="r" b="b" t="t" l="l"/>
            <a:pathLst>
              <a:path h="3771675" w="3876452">
                <a:moveTo>
                  <a:pt x="0" y="0"/>
                </a:moveTo>
                <a:lnTo>
                  <a:pt x="3876452" y="0"/>
                </a:lnTo>
                <a:lnTo>
                  <a:pt x="3876452" y="3771675"/>
                </a:lnTo>
                <a:lnTo>
                  <a:pt x="0" y="3771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783" t="0" r="0" b="-1495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97399" y="3910848"/>
            <a:ext cx="3950752" cy="3771675"/>
          </a:xfrm>
          <a:custGeom>
            <a:avLst/>
            <a:gdLst/>
            <a:ahLst/>
            <a:cxnLst/>
            <a:rect r="r" b="b" t="t" l="l"/>
            <a:pathLst>
              <a:path h="3771675" w="3950752">
                <a:moveTo>
                  <a:pt x="0" y="0"/>
                </a:moveTo>
                <a:lnTo>
                  <a:pt x="3950752" y="0"/>
                </a:lnTo>
                <a:lnTo>
                  <a:pt x="3950752" y="3771675"/>
                </a:lnTo>
                <a:lnTo>
                  <a:pt x="0" y="3771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8942" t="0" r="0" b="-1201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63084" y="3873858"/>
            <a:ext cx="3862709" cy="3808665"/>
          </a:xfrm>
          <a:custGeom>
            <a:avLst/>
            <a:gdLst/>
            <a:ahLst/>
            <a:cxnLst/>
            <a:rect r="r" b="b" t="t" l="l"/>
            <a:pathLst>
              <a:path h="3808665" w="3862709">
                <a:moveTo>
                  <a:pt x="0" y="0"/>
                </a:moveTo>
                <a:lnTo>
                  <a:pt x="3862709" y="0"/>
                </a:lnTo>
                <a:lnTo>
                  <a:pt x="3862709" y="3808665"/>
                </a:lnTo>
                <a:lnTo>
                  <a:pt x="0" y="38086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63" t="-1088" r="-4364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51105" y="8205716"/>
            <a:ext cx="2559930" cy="43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951" spc="-2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nton"/>
                <a:ea typeface="Anton"/>
                <a:cs typeface="Anton"/>
                <a:sym typeface="Anton"/>
              </a:rPr>
              <a:t>CREATORS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0552" y="8701719"/>
            <a:ext cx="4003263" cy="92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2310" indent="-191155" lvl="1">
              <a:lnSpc>
                <a:spcPts val="2479"/>
              </a:lnSpc>
              <a:buAutoNum type="arabicPeriod" startAt="1"/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Travel vloggers</a:t>
            </a:r>
          </a:p>
          <a:p>
            <a:pPr algn="l" marL="382310" indent="-191155" lvl="1">
              <a:lnSpc>
                <a:spcPts val="2479"/>
              </a:lnSpc>
              <a:buAutoNum type="arabicPeriod" startAt="1"/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Travel bloggers</a:t>
            </a:r>
          </a:p>
          <a:p>
            <a:pPr algn="l" marL="382310" indent="-191155" lvl="1">
              <a:lnSpc>
                <a:spcPts val="2479"/>
              </a:lnSpc>
              <a:buAutoNum type="arabicPeriod" startAt="1"/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Tumblr influencers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08565" y="8205716"/>
            <a:ext cx="2559930" cy="43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951" spc="-2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nton"/>
                <a:ea typeface="Anton"/>
                <a:cs typeface="Anton"/>
                <a:sym typeface="Anton"/>
              </a:rPr>
              <a:t>NEEDS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68012" y="8701719"/>
            <a:ext cx="4003263" cy="92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2310" indent="-191155" lvl="1">
              <a:lnSpc>
                <a:spcPts val="2479"/>
              </a:lnSpc>
              <a:buAutoNum type="arabicPeriod" startAt="1"/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Understand what drives engagement</a:t>
            </a:r>
          </a:p>
          <a:p>
            <a:pPr algn="l" marL="382310" indent="-191155" lvl="1">
              <a:lnSpc>
                <a:spcPts val="2479"/>
              </a:lnSpc>
              <a:buAutoNum type="arabicPeriod" startAt="1"/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Identify high-performing content</a:t>
            </a:r>
          </a:p>
          <a:p>
            <a:pPr algn="l" marL="382310" indent="-191155" lvl="1">
              <a:lnSpc>
                <a:spcPts val="2479"/>
              </a:lnSpc>
              <a:buAutoNum type="arabicPeriod" startAt="1"/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Improve reach &amp; visibility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97582" y="8205716"/>
            <a:ext cx="3506925" cy="43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41"/>
              </a:lnSpc>
            </a:pPr>
            <a:r>
              <a:rPr lang="en-US" sz="2951" spc="-2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nton"/>
                <a:ea typeface="Anton"/>
                <a:cs typeface="Anton"/>
                <a:sym typeface="Anton"/>
              </a:rPr>
              <a:t>VALUE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57028" y="8701719"/>
            <a:ext cx="4003263" cy="1229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2310" indent="-191155" lvl="1">
              <a:lnSpc>
                <a:spcPts val="2479"/>
              </a:lnSpc>
              <a:buAutoNum type="arabicPeriod" startAt="1"/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Predict engagement performance</a:t>
            </a:r>
          </a:p>
          <a:p>
            <a:pPr algn="just" marL="382310" indent="-191155" lvl="1">
              <a:lnSpc>
                <a:spcPts val="2479"/>
              </a:lnSpc>
              <a:buAutoNum type="arabicPeriod" startAt="1"/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Identify winning topics &amp; tone</a:t>
            </a:r>
          </a:p>
          <a:p>
            <a:pPr algn="just" marL="382310" indent="-191155" lvl="1">
              <a:lnSpc>
                <a:spcPts val="2479"/>
              </a:lnSpc>
              <a:buAutoNum type="arabicPeriod" startAt="1"/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Enable data-driven decisions</a:t>
            </a:r>
          </a:p>
          <a:p>
            <a:pPr algn="just">
              <a:lnSpc>
                <a:spcPts val="24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097365" y="2563242"/>
            <a:ext cx="14928428" cy="120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 spc="-34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Our Main Target is to find Solution for </a:t>
            </a:r>
            <a:r>
              <a:rPr lang="en-US" b="true" sz="3499" spc="-34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Travel Content Creators 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 spc="-34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on Tumblr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10552" y="895350"/>
            <a:ext cx="1345712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Target Audience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788362" y="3075115"/>
            <a:ext cx="464600" cy="464600"/>
          </a:xfrm>
          <a:custGeom>
            <a:avLst/>
            <a:gdLst/>
            <a:ahLst/>
            <a:cxnLst/>
            <a:rect r="r" b="b" t="t" l="l"/>
            <a:pathLst>
              <a:path h="464600" w="464600">
                <a:moveTo>
                  <a:pt x="0" y="0"/>
                </a:moveTo>
                <a:lnTo>
                  <a:pt x="464599" y="0"/>
                </a:lnTo>
                <a:lnTo>
                  <a:pt x="464599" y="464599"/>
                </a:lnTo>
                <a:lnTo>
                  <a:pt x="0" y="46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88362" y="3838593"/>
            <a:ext cx="464600" cy="464600"/>
          </a:xfrm>
          <a:custGeom>
            <a:avLst/>
            <a:gdLst/>
            <a:ahLst/>
            <a:cxnLst/>
            <a:rect r="r" b="b" t="t" l="l"/>
            <a:pathLst>
              <a:path h="464600" w="464600">
                <a:moveTo>
                  <a:pt x="0" y="0"/>
                </a:moveTo>
                <a:lnTo>
                  <a:pt x="464599" y="0"/>
                </a:lnTo>
                <a:lnTo>
                  <a:pt x="464599" y="464600"/>
                </a:lnTo>
                <a:lnTo>
                  <a:pt x="0" y="46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88362" y="4598468"/>
            <a:ext cx="464600" cy="464600"/>
          </a:xfrm>
          <a:custGeom>
            <a:avLst/>
            <a:gdLst/>
            <a:ahLst/>
            <a:cxnLst/>
            <a:rect r="r" b="b" t="t" l="l"/>
            <a:pathLst>
              <a:path h="464600" w="464600">
                <a:moveTo>
                  <a:pt x="0" y="0"/>
                </a:moveTo>
                <a:lnTo>
                  <a:pt x="464599" y="0"/>
                </a:lnTo>
                <a:lnTo>
                  <a:pt x="464599" y="464599"/>
                </a:lnTo>
                <a:lnTo>
                  <a:pt x="0" y="464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88362" y="5358342"/>
            <a:ext cx="464600" cy="464600"/>
          </a:xfrm>
          <a:custGeom>
            <a:avLst/>
            <a:gdLst/>
            <a:ahLst/>
            <a:cxnLst/>
            <a:rect r="r" b="b" t="t" l="l"/>
            <a:pathLst>
              <a:path h="464600" w="464600">
                <a:moveTo>
                  <a:pt x="0" y="0"/>
                </a:moveTo>
                <a:lnTo>
                  <a:pt x="464599" y="0"/>
                </a:lnTo>
                <a:lnTo>
                  <a:pt x="464599" y="464600"/>
                </a:lnTo>
                <a:lnTo>
                  <a:pt x="0" y="46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88362" y="6118217"/>
            <a:ext cx="464600" cy="464600"/>
          </a:xfrm>
          <a:custGeom>
            <a:avLst/>
            <a:gdLst/>
            <a:ahLst/>
            <a:cxnLst/>
            <a:rect r="r" b="b" t="t" l="l"/>
            <a:pathLst>
              <a:path h="464600" w="464600">
                <a:moveTo>
                  <a:pt x="0" y="0"/>
                </a:moveTo>
                <a:lnTo>
                  <a:pt x="464599" y="0"/>
                </a:lnTo>
                <a:lnTo>
                  <a:pt x="464599" y="464600"/>
                </a:lnTo>
                <a:lnTo>
                  <a:pt x="0" y="464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663538" y="2525129"/>
            <a:ext cx="6823675" cy="5236741"/>
          </a:xfrm>
          <a:custGeom>
            <a:avLst/>
            <a:gdLst/>
            <a:ahLst/>
            <a:cxnLst/>
            <a:rect r="r" b="b" t="t" l="l"/>
            <a:pathLst>
              <a:path h="5236741" w="6823675">
                <a:moveTo>
                  <a:pt x="0" y="0"/>
                </a:moveTo>
                <a:lnTo>
                  <a:pt x="6823675" y="0"/>
                </a:lnTo>
                <a:lnTo>
                  <a:pt x="6823675" y="5236742"/>
                </a:lnTo>
                <a:lnTo>
                  <a:pt x="0" y="5236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122" t="0" r="-2146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15436" y="1017380"/>
            <a:ext cx="1345712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Problem Identification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8568" y="8158480"/>
            <a:ext cx="17510863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Tumblr creators cannot reliably predict high-engagement content due to a lack of structured analytics.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98075" y="2798890"/>
            <a:ext cx="15696130" cy="4700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1"/>
              </a:lnSpc>
            </a:pPr>
            <a:r>
              <a:rPr lang="en-US" sz="3100" spc="-3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Lack of structured analytics for creators</a:t>
            </a:r>
          </a:p>
          <a:p>
            <a:pPr algn="l">
              <a:lnSpc>
                <a:spcPts val="6231"/>
              </a:lnSpc>
            </a:pPr>
            <a:r>
              <a:rPr lang="en-US" sz="3100" spc="-3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Engagement is unpredictable and difficult to evaluate</a:t>
            </a:r>
          </a:p>
          <a:p>
            <a:pPr algn="l">
              <a:lnSpc>
                <a:spcPts val="6231"/>
              </a:lnSpc>
            </a:pPr>
            <a:r>
              <a:rPr lang="en-US" sz="3100" spc="-3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Titles and tags do not reflect engagement potential</a:t>
            </a:r>
          </a:p>
          <a:p>
            <a:pPr algn="l">
              <a:lnSpc>
                <a:spcPts val="6231"/>
              </a:lnSpc>
            </a:pPr>
            <a:r>
              <a:rPr lang="en-US" sz="3100" spc="-3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Unstructured text limits meaningful analysis</a:t>
            </a:r>
          </a:p>
          <a:p>
            <a:pPr algn="l">
              <a:lnSpc>
                <a:spcPts val="6231"/>
              </a:lnSpc>
            </a:pPr>
            <a:r>
              <a:rPr lang="en-US" sz="3100" spc="-3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Noisy, low-quality content distorts engagement signals</a:t>
            </a:r>
          </a:p>
          <a:p>
            <a:pPr algn="l">
              <a:lnSpc>
                <a:spcPts val="623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91259" y="895350"/>
            <a:ext cx="6282737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Vision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000778" y="2475931"/>
            <a:ext cx="3069821" cy="5335138"/>
          </a:xfrm>
          <a:custGeom>
            <a:avLst/>
            <a:gdLst/>
            <a:ahLst/>
            <a:cxnLst/>
            <a:rect r="r" b="b" t="t" l="l"/>
            <a:pathLst>
              <a:path h="5335138" w="3069821">
                <a:moveTo>
                  <a:pt x="0" y="0"/>
                </a:moveTo>
                <a:lnTo>
                  <a:pt x="3069821" y="0"/>
                </a:lnTo>
                <a:lnTo>
                  <a:pt x="3069821" y="5335138"/>
                </a:lnTo>
                <a:lnTo>
                  <a:pt x="0" y="5335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168377" y="6398685"/>
            <a:ext cx="2434223" cy="765290"/>
          </a:xfrm>
          <a:custGeom>
            <a:avLst/>
            <a:gdLst/>
            <a:ahLst/>
            <a:cxnLst/>
            <a:rect r="r" b="b" t="t" l="l"/>
            <a:pathLst>
              <a:path h="765290" w="2434223">
                <a:moveTo>
                  <a:pt x="0" y="0"/>
                </a:moveTo>
                <a:lnTo>
                  <a:pt x="2434222" y="0"/>
                </a:lnTo>
                <a:lnTo>
                  <a:pt x="2434222" y="765290"/>
                </a:lnTo>
                <a:lnTo>
                  <a:pt x="0" y="7652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4509" t="0" r="0" b="-24220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00778" y="3135747"/>
            <a:ext cx="3124951" cy="3262938"/>
          </a:xfrm>
          <a:custGeom>
            <a:avLst/>
            <a:gdLst/>
            <a:ahLst/>
            <a:cxnLst/>
            <a:rect r="r" b="b" t="t" l="l"/>
            <a:pathLst>
              <a:path h="3262938" w="3124951">
                <a:moveTo>
                  <a:pt x="0" y="0"/>
                </a:moveTo>
                <a:lnTo>
                  <a:pt x="3124950" y="0"/>
                </a:lnTo>
                <a:lnTo>
                  <a:pt x="3124950" y="3262938"/>
                </a:lnTo>
                <a:lnTo>
                  <a:pt x="0" y="3262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508" t="0" r="-2850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69627" y="6460245"/>
            <a:ext cx="2946331" cy="470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  <a:spcBef>
                <a:spcPct val="0"/>
              </a:spcBef>
            </a:pPr>
            <a:r>
              <a:rPr lang="en-US" sz="1362" spc="-13">
                <a:solidFill>
                  <a:srgbClr val="8C8C8D"/>
                </a:solidFill>
                <a:latin typeface="Arial Unicode"/>
                <a:ea typeface="Arial Unicode"/>
                <a:cs typeface="Arial Unicode"/>
                <a:sym typeface="Arial Unicode"/>
              </a:rPr>
              <a:t>omg this beach  😍 can’t get over this view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935017" y="2516138"/>
            <a:ext cx="3046686" cy="5294931"/>
          </a:xfrm>
          <a:custGeom>
            <a:avLst/>
            <a:gdLst/>
            <a:ahLst/>
            <a:cxnLst/>
            <a:rect r="r" b="b" t="t" l="l"/>
            <a:pathLst>
              <a:path h="5294931" w="3046686">
                <a:moveTo>
                  <a:pt x="0" y="0"/>
                </a:moveTo>
                <a:lnTo>
                  <a:pt x="3046686" y="0"/>
                </a:lnTo>
                <a:lnTo>
                  <a:pt x="3046686" y="5294931"/>
                </a:lnTo>
                <a:lnTo>
                  <a:pt x="0" y="52949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73996" y="6409329"/>
            <a:ext cx="2415878" cy="759523"/>
          </a:xfrm>
          <a:custGeom>
            <a:avLst/>
            <a:gdLst/>
            <a:ahLst/>
            <a:cxnLst/>
            <a:rect r="r" b="b" t="t" l="l"/>
            <a:pathLst>
              <a:path h="759523" w="2415878">
                <a:moveTo>
                  <a:pt x="0" y="0"/>
                </a:moveTo>
                <a:lnTo>
                  <a:pt x="2415878" y="0"/>
                </a:lnTo>
                <a:lnTo>
                  <a:pt x="2415878" y="759523"/>
                </a:lnTo>
                <a:lnTo>
                  <a:pt x="0" y="759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4509" t="0" r="0" b="-242201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35017" y="3135747"/>
            <a:ext cx="3046686" cy="3238347"/>
          </a:xfrm>
          <a:custGeom>
            <a:avLst/>
            <a:gdLst/>
            <a:ahLst/>
            <a:cxnLst/>
            <a:rect r="r" b="b" t="t" l="l"/>
            <a:pathLst>
              <a:path h="3238347" w="3046686">
                <a:moveTo>
                  <a:pt x="0" y="0"/>
                </a:moveTo>
                <a:lnTo>
                  <a:pt x="3046686" y="0"/>
                </a:lnTo>
                <a:lnTo>
                  <a:pt x="3046686" y="3238348"/>
                </a:lnTo>
                <a:lnTo>
                  <a:pt x="0" y="3238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019" t="0" r="-30815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53429" y="6379635"/>
            <a:ext cx="3028274" cy="1061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06"/>
              </a:lnSpc>
              <a:spcBef>
                <a:spcPct val="0"/>
              </a:spcBef>
            </a:pPr>
            <a:r>
              <a:rPr lang="en-US" sz="1219" spc="-12">
                <a:solidFill>
                  <a:srgbClr val="8C8C8D"/>
                </a:solidFill>
                <a:latin typeface="Arial Unicode"/>
                <a:ea typeface="Arial Unicode"/>
                <a:cs typeface="Arial Unicode"/>
                <a:sym typeface="Arial Unicode"/>
              </a:rPr>
              <a:t>Golden hour coastal sunset in Santorini featuring soft pastel skies, calm ocean waves, and a serene atmosphere ideal for travel photography and quiet evening views along the shoreline.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21273" y="8127513"/>
            <a:ext cx="3504456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 spc="-25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Current (Unstructured)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96887" y="8127513"/>
            <a:ext cx="4273823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 spc="-25">
                <a:solidFill>
                  <a:srgbClr val="000000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Desired (Structured Insight)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77839" y="8698080"/>
            <a:ext cx="7694563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 spc="-25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Sentiment: Positive | Predicted: High Engagement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98080"/>
            <a:ext cx="7499152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 spc="-25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Sentiment: Neutral | Predicted: Low Engagement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173707" y="3389037"/>
            <a:ext cx="1967623" cy="4114800"/>
          </a:xfrm>
          <a:custGeom>
            <a:avLst/>
            <a:gdLst/>
            <a:ahLst/>
            <a:cxnLst/>
            <a:rect r="r" b="b" t="t" l="l"/>
            <a:pathLst>
              <a:path h="4114800" w="1967623">
                <a:moveTo>
                  <a:pt x="0" y="0"/>
                </a:moveTo>
                <a:lnTo>
                  <a:pt x="1967623" y="0"/>
                </a:lnTo>
                <a:lnTo>
                  <a:pt x="19676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85908"/>
            <a:ext cx="12850663" cy="293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 spc="-56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What kind of sentiment and topics lead to higher engagement on Tumblr posts?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109658" y="3385820"/>
            <a:ext cx="2068684" cy="2057400"/>
          </a:xfrm>
          <a:custGeom>
            <a:avLst/>
            <a:gdLst/>
            <a:ahLst/>
            <a:cxnLst/>
            <a:rect r="r" b="b" t="t" l="l"/>
            <a:pathLst>
              <a:path h="2057400" w="2068684">
                <a:moveTo>
                  <a:pt x="0" y="0"/>
                </a:moveTo>
                <a:lnTo>
                  <a:pt x="2068684" y="0"/>
                </a:lnTo>
                <a:lnTo>
                  <a:pt x="206868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5123" y="6435090"/>
            <a:ext cx="17262877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-41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Develop a model to predict high vs. low engagement based on sentiment, topic, and textual features.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10552" y="895350"/>
            <a:ext cx="1345712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8510" y="8589687"/>
            <a:ext cx="1738119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spc="-27">
                <a:solidFill>
                  <a:srgbClr val="004AAD"/>
                </a:solidFill>
                <a:latin typeface="Arial Unicode"/>
                <a:ea typeface="Arial Unicode"/>
                <a:cs typeface="Arial Unicode"/>
                <a:sym typeface="Arial Unicode"/>
              </a:rPr>
              <a:t>Predict high vs. low engagement      Identify key drivers (sentiment &amp; topics)     Enable data-driven content strategy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6790" y="3186589"/>
            <a:ext cx="1226820" cy="1226820"/>
          </a:xfrm>
          <a:custGeom>
            <a:avLst/>
            <a:gdLst/>
            <a:ahLst/>
            <a:cxnLst/>
            <a:rect r="r" b="b" t="t" l="l"/>
            <a:pathLst>
              <a:path h="1226820" w="1226820">
                <a:moveTo>
                  <a:pt x="0" y="0"/>
                </a:moveTo>
                <a:lnTo>
                  <a:pt x="1226819" y="0"/>
                </a:lnTo>
                <a:lnTo>
                  <a:pt x="1226819" y="1226820"/>
                </a:lnTo>
                <a:lnTo>
                  <a:pt x="0" y="1226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11853" y="4413409"/>
            <a:ext cx="1226820" cy="1226820"/>
          </a:xfrm>
          <a:custGeom>
            <a:avLst/>
            <a:gdLst/>
            <a:ahLst/>
            <a:cxnLst/>
            <a:rect r="r" b="b" t="t" l="l"/>
            <a:pathLst>
              <a:path h="1226820" w="1226820">
                <a:moveTo>
                  <a:pt x="0" y="0"/>
                </a:moveTo>
                <a:lnTo>
                  <a:pt x="1226819" y="0"/>
                </a:lnTo>
                <a:lnTo>
                  <a:pt x="1226819" y="1226820"/>
                </a:lnTo>
                <a:lnTo>
                  <a:pt x="0" y="1226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10552" y="895350"/>
            <a:ext cx="1345712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Data &amp; Methodology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53401" y="8386286"/>
            <a:ext cx="17381198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 spc="-31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Cross-platform analysis using Tumblr (primary) and Reddit (validation dataset).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13255" y="3186589"/>
            <a:ext cx="25691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32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DATA COLLECTION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42703" y="3927634"/>
            <a:ext cx="25691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32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PREPROCESSING &amp; CLEANING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97691" y="4899184"/>
            <a:ext cx="25691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32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FEATURE ENGINEERING</a:t>
            </a:r>
            <a:r>
              <a:rPr lang="en-US" sz="3200" spc="-32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97691" y="5983453"/>
            <a:ext cx="166836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spc="-23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(SENTIMENT +VADER + LDA + TF-IDF)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98591" y="5640229"/>
            <a:ext cx="1226820" cy="1226820"/>
          </a:xfrm>
          <a:custGeom>
            <a:avLst/>
            <a:gdLst/>
            <a:ahLst/>
            <a:cxnLst/>
            <a:rect r="r" b="b" t="t" l="l"/>
            <a:pathLst>
              <a:path h="1226820" w="1226820">
                <a:moveTo>
                  <a:pt x="0" y="0"/>
                </a:moveTo>
                <a:lnTo>
                  <a:pt x="1226819" y="0"/>
                </a:lnTo>
                <a:lnTo>
                  <a:pt x="1226819" y="1226819"/>
                </a:lnTo>
                <a:lnTo>
                  <a:pt x="0" y="1226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105596" y="6240628"/>
            <a:ext cx="25691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32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MODEL TRAINING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05596" y="6738461"/>
            <a:ext cx="16683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spc="-23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(XGBOOST)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02788" y="-2218526"/>
            <a:ext cx="7385212" cy="3247226"/>
          </a:xfrm>
          <a:custGeom>
            <a:avLst/>
            <a:gdLst/>
            <a:ahLst/>
            <a:cxnLst/>
            <a:rect r="r" b="b" t="t" l="l"/>
            <a:pathLst>
              <a:path h="3247226" w="7385212">
                <a:moveTo>
                  <a:pt x="0" y="0"/>
                </a:moveTo>
                <a:lnTo>
                  <a:pt x="7385212" y="0"/>
                </a:lnTo>
                <a:lnTo>
                  <a:pt x="7385212" y="3247226"/>
                </a:lnTo>
                <a:lnTo>
                  <a:pt x="0" y="3247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6784" y="3251455"/>
            <a:ext cx="3371576" cy="5645017"/>
            <a:chOff x="0" y="0"/>
            <a:chExt cx="1387961" cy="2323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7961" cy="2323857"/>
            </a:xfrm>
            <a:custGeom>
              <a:avLst/>
              <a:gdLst/>
              <a:ahLst/>
              <a:cxnLst/>
              <a:rect r="r" b="b" t="t" l="l"/>
              <a:pathLst>
                <a:path h="2323857" w="1387961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AFBE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59003" y="3251455"/>
            <a:ext cx="3371576" cy="5645017"/>
            <a:chOff x="0" y="0"/>
            <a:chExt cx="1387961" cy="23238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7961" cy="2323857"/>
            </a:xfrm>
            <a:custGeom>
              <a:avLst/>
              <a:gdLst/>
              <a:ahLst/>
              <a:cxnLst/>
              <a:rect r="r" b="b" t="t" l="l"/>
              <a:pathLst>
                <a:path h="2323857" w="1387961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531212" y="3251455"/>
            <a:ext cx="3371576" cy="5645017"/>
            <a:chOff x="0" y="0"/>
            <a:chExt cx="1387961" cy="23238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7961" cy="2323857"/>
            </a:xfrm>
            <a:custGeom>
              <a:avLst/>
              <a:gdLst/>
              <a:ahLst/>
              <a:cxnLst/>
              <a:rect r="r" b="b" t="t" l="l"/>
              <a:pathLst>
                <a:path h="2323857" w="1387961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754531" y="7345652"/>
            <a:ext cx="653740" cy="369233"/>
            <a:chOff x="0" y="0"/>
            <a:chExt cx="1387983" cy="7840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87983" cy="782620"/>
            </a:xfrm>
            <a:custGeom>
              <a:avLst/>
              <a:gdLst/>
              <a:ahLst/>
              <a:cxnLst/>
              <a:rect r="r" b="b" t="t" l="l"/>
              <a:pathLst>
                <a:path h="782620" w="1387983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AFBE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4096760" y="4433042"/>
            <a:ext cx="653740" cy="369233"/>
            <a:chOff x="0" y="0"/>
            <a:chExt cx="1387983" cy="784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87983" cy="782620"/>
            </a:xfrm>
            <a:custGeom>
              <a:avLst/>
              <a:gdLst/>
              <a:ahLst/>
              <a:cxnLst/>
              <a:rect r="r" b="b" t="t" l="l"/>
              <a:pathLst>
                <a:path h="782620" w="1387983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AFBE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5400000">
            <a:off x="7368968" y="7345652"/>
            <a:ext cx="653740" cy="369233"/>
            <a:chOff x="0" y="0"/>
            <a:chExt cx="1387983" cy="784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87983" cy="782620"/>
            </a:xfrm>
            <a:custGeom>
              <a:avLst/>
              <a:gdLst/>
              <a:ahLst/>
              <a:cxnLst/>
              <a:rect r="r" b="b" t="t" l="l"/>
              <a:pathLst>
                <a:path h="782620" w="1387983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anchor="ctr" rtlCol="false" tIns="33379" lIns="33379" bIns="33379" rIns="3337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4141288" y="4290789"/>
            <a:ext cx="3118012" cy="3118012"/>
          </a:xfrm>
          <a:custGeom>
            <a:avLst/>
            <a:gdLst/>
            <a:ahLst/>
            <a:cxnLst/>
            <a:rect r="r" b="b" t="t" l="l"/>
            <a:pathLst>
              <a:path h="3118012" w="3118012">
                <a:moveTo>
                  <a:pt x="0" y="0"/>
                </a:moveTo>
                <a:lnTo>
                  <a:pt x="3118012" y="0"/>
                </a:lnTo>
                <a:lnTo>
                  <a:pt x="3118012" y="3118011"/>
                </a:lnTo>
                <a:lnTo>
                  <a:pt x="0" y="3118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7745681" y="3652399"/>
            <a:ext cx="2672075" cy="2721054"/>
            <a:chOff x="0" y="0"/>
            <a:chExt cx="3562767" cy="3628071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28575"/>
              <a:ext cx="2988424" cy="412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71"/>
                </a:lnSpc>
              </a:pPr>
              <a:r>
                <a:rPr lang="en-US" b="true" sz="1915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FEATURES USED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31388"/>
              <a:ext cx="3562767" cy="249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16"/>
                </a:lnSpc>
              </a:pPr>
              <a:r>
                <a:rPr lang="en-US" sz="1900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Sentiment(VADER)</a:t>
              </a:r>
            </a:p>
            <a:p>
              <a:pPr algn="l">
                <a:lnSpc>
                  <a:spcPts val="3116"/>
                </a:lnSpc>
              </a:pPr>
              <a:r>
                <a:rPr lang="en-US" sz="1900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Topic (LDA)</a:t>
              </a:r>
            </a:p>
            <a:p>
              <a:pPr algn="l">
                <a:lnSpc>
                  <a:spcPts val="3116"/>
                </a:lnSpc>
              </a:pPr>
              <a:r>
                <a:rPr lang="en-US" sz="1900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Text Length</a:t>
              </a:r>
            </a:p>
            <a:p>
              <a:pPr algn="l">
                <a:lnSpc>
                  <a:spcPts val="3116"/>
                </a:lnSpc>
              </a:pPr>
              <a:r>
                <a:rPr lang="en-US" sz="1900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TF-IDF (text features)</a:t>
              </a:r>
            </a:p>
            <a:p>
              <a:pPr algn="l">
                <a:lnSpc>
                  <a:spcPts val="2337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081718" y="7065630"/>
            <a:ext cx="1795727" cy="149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115"/>
              </a:lnSpc>
            </a:pPr>
            <a:r>
              <a:rPr lang="en-US" sz="9392" spc="-2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02944" y="861437"/>
            <a:ext cx="13342765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Data Overview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979581" y="840249"/>
            <a:ext cx="5147170" cy="4822412"/>
          </a:xfrm>
          <a:custGeom>
            <a:avLst/>
            <a:gdLst/>
            <a:ahLst/>
            <a:cxnLst/>
            <a:rect r="r" b="b" t="t" l="l"/>
            <a:pathLst>
              <a:path h="4822412" w="5147170">
                <a:moveTo>
                  <a:pt x="0" y="0"/>
                </a:moveTo>
                <a:lnTo>
                  <a:pt x="5147170" y="0"/>
                </a:lnTo>
                <a:lnTo>
                  <a:pt x="5147170" y="4822412"/>
                </a:lnTo>
                <a:lnTo>
                  <a:pt x="0" y="48224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43197" b="-5284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2350588" y="6058332"/>
            <a:ext cx="2699547" cy="2186046"/>
          </a:xfrm>
          <a:custGeom>
            <a:avLst/>
            <a:gdLst/>
            <a:ahLst/>
            <a:cxnLst/>
            <a:rect r="r" b="b" t="t" l="l"/>
            <a:pathLst>
              <a:path h="2186046" w="2699547">
                <a:moveTo>
                  <a:pt x="0" y="0"/>
                </a:moveTo>
                <a:lnTo>
                  <a:pt x="2699547" y="0"/>
                </a:lnTo>
                <a:lnTo>
                  <a:pt x="2699547" y="2186046"/>
                </a:lnTo>
                <a:lnTo>
                  <a:pt x="0" y="21860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239117" y="3652399"/>
            <a:ext cx="2241318" cy="3550999"/>
            <a:chOff x="0" y="0"/>
            <a:chExt cx="2988424" cy="4734665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28575"/>
              <a:ext cx="2988424" cy="4125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71"/>
                </a:lnSpc>
              </a:pPr>
              <a:r>
                <a:rPr lang="en-US" b="true" sz="1915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DATASET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677363"/>
              <a:ext cx="2988424" cy="4057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96"/>
                </a:lnSpc>
              </a:pPr>
              <a:r>
                <a:rPr lang="en-US" sz="2400" spc="-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Tumblr:</a:t>
              </a:r>
            </a:p>
            <a:p>
              <a:pPr algn="just">
                <a:lnSpc>
                  <a:spcPts val="3096"/>
                </a:lnSpc>
              </a:pPr>
              <a:r>
                <a:rPr lang="en-US" sz="2400" spc="-7">
                  <a:solidFill>
                    <a:srgbClr val="132DA8"/>
                  </a:solidFill>
                  <a:latin typeface="Poppins"/>
                  <a:ea typeface="Poppins"/>
                  <a:cs typeface="Poppins"/>
                  <a:sym typeface="Poppins"/>
                </a:rPr>
                <a:t>40,000+ posts</a:t>
              </a:r>
            </a:p>
            <a:p>
              <a:pPr algn="just">
                <a:lnSpc>
                  <a:spcPts val="2337"/>
                </a:lnSpc>
              </a:pPr>
              <a:r>
                <a:rPr lang="en-US" sz="1812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(primary dataset)</a:t>
              </a:r>
            </a:p>
            <a:p>
              <a:pPr algn="just">
                <a:lnSpc>
                  <a:spcPts val="3096"/>
                </a:lnSpc>
              </a:pPr>
              <a:r>
                <a:rPr lang="en-US" sz="2400" spc="-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Reddit: </a:t>
              </a:r>
            </a:p>
            <a:p>
              <a:pPr algn="just">
                <a:lnSpc>
                  <a:spcPts val="3096"/>
                </a:lnSpc>
              </a:pPr>
              <a:r>
                <a:rPr lang="en-US" sz="2400" spc="-7">
                  <a:solidFill>
                    <a:srgbClr val="132DA8"/>
                  </a:solidFill>
                  <a:latin typeface="Poppins"/>
                  <a:ea typeface="Poppins"/>
                  <a:cs typeface="Poppins"/>
                  <a:sym typeface="Poppins"/>
                </a:rPr>
                <a:t>2,000+ posts </a:t>
              </a:r>
            </a:p>
            <a:p>
              <a:pPr algn="just">
                <a:lnSpc>
                  <a:spcPts val="2337"/>
                </a:lnSpc>
              </a:pPr>
              <a:r>
                <a:rPr lang="en-US" sz="1812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(validation dataset)</a:t>
              </a:r>
            </a:p>
            <a:p>
              <a:pPr algn="just">
                <a:lnSpc>
                  <a:spcPts val="2337"/>
                </a:lnSpc>
              </a:pPr>
            </a:p>
            <a:p>
              <a:pPr algn="just">
                <a:lnSpc>
                  <a:spcPts val="2337"/>
                </a:lnSpc>
              </a:pPr>
              <a:r>
                <a:rPr lang="en-US" sz="1812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721858" y="7065630"/>
            <a:ext cx="1517155" cy="149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115"/>
              </a:lnSpc>
            </a:pPr>
            <a:r>
              <a:rPr lang="en-US" sz="9392" spc="-2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824132" y="5631115"/>
            <a:ext cx="2241318" cy="2564857"/>
            <a:chOff x="0" y="0"/>
            <a:chExt cx="2988424" cy="3419810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28575"/>
              <a:ext cx="2988424" cy="8256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71"/>
                </a:lnSpc>
              </a:pPr>
              <a:r>
                <a:rPr lang="en-US" b="true" sz="1915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ENGAGEMENT DEFINITION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1100015"/>
              <a:ext cx="2988424" cy="2319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37"/>
                </a:lnSpc>
              </a:pPr>
              <a:r>
                <a:rPr lang="en-US" sz="1812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Tumblr: note_count</a:t>
              </a:r>
            </a:p>
            <a:p>
              <a:pPr algn="just">
                <a:lnSpc>
                  <a:spcPts val="2337"/>
                </a:lnSpc>
              </a:pPr>
            </a:p>
            <a:p>
              <a:pPr algn="just">
                <a:lnSpc>
                  <a:spcPts val="2337"/>
                </a:lnSpc>
              </a:pPr>
              <a:r>
                <a:rPr lang="en-US" sz="1812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Reddit: upvotes + comments</a:t>
              </a:r>
            </a:p>
            <a:p>
              <a:pPr algn="just">
                <a:lnSpc>
                  <a:spcPts val="2337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822917" y="3447236"/>
            <a:ext cx="1656441" cy="149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115"/>
              </a:lnSpc>
            </a:pPr>
            <a:r>
              <a:rPr lang="en-US" sz="9392" spc="-28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68362" y="2921633"/>
            <a:ext cx="7567983" cy="4957447"/>
          </a:xfrm>
          <a:custGeom>
            <a:avLst/>
            <a:gdLst/>
            <a:ahLst/>
            <a:cxnLst/>
            <a:rect r="r" b="b" t="t" l="l"/>
            <a:pathLst>
              <a:path h="4957447" w="7567983">
                <a:moveTo>
                  <a:pt x="0" y="0"/>
                </a:moveTo>
                <a:lnTo>
                  <a:pt x="7567982" y="0"/>
                </a:lnTo>
                <a:lnTo>
                  <a:pt x="7567982" y="4957446"/>
                </a:lnTo>
                <a:lnTo>
                  <a:pt x="0" y="4957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06268" y="4832506"/>
            <a:ext cx="5309093" cy="2458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788" indent="-250894" lvl="1">
              <a:lnSpc>
                <a:spcPts val="3904"/>
              </a:lnSpc>
              <a:buFont typeface="Arial"/>
              <a:buChar char="•"/>
            </a:pPr>
            <a:r>
              <a:rPr lang="en-US" sz="2324" spc="-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Neutral posts have the highest engagement rate</a:t>
            </a:r>
          </a:p>
          <a:p>
            <a:pPr algn="l" marL="501788" indent="-250894" lvl="1">
              <a:lnSpc>
                <a:spcPts val="3904"/>
              </a:lnSpc>
              <a:buFont typeface="Arial"/>
              <a:buChar char="•"/>
            </a:pPr>
            <a:r>
              <a:rPr lang="en-US" sz="2324" spc="-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Positive posts show relatively lower engagement</a:t>
            </a:r>
          </a:p>
          <a:p>
            <a:pPr algn="l">
              <a:lnSpc>
                <a:spcPts val="390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72619" y="4200639"/>
            <a:ext cx="3529193" cy="53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b="true" sz="3153" spc="-20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INSIGHT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72618" y="895350"/>
            <a:ext cx="13342765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Sentiment vs Engagement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2259" y="8264842"/>
            <a:ext cx="15617041" cy="145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 spc="-41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Tumblr engagement favors neutral, informative content over emotional content.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764307" y="2505028"/>
            <a:ext cx="8994019" cy="5836013"/>
          </a:xfrm>
          <a:custGeom>
            <a:avLst/>
            <a:gdLst/>
            <a:ahLst/>
            <a:cxnLst/>
            <a:rect r="r" b="b" t="t" l="l"/>
            <a:pathLst>
              <a:path h="5836013" w="8994019">
                <a:moveTo>
                  <a:pt x="0" y="0"/>
                </a:moveTo>
                <a:lnTo>
                  <a:pt x="8994019" y="0"/>
                </a:lnTo>
                <a:lnTo>
                  <a:pt x="8994019" y="5836014"/>
                </a:lnTo>
                <a:lnTo>
                  <a:pt x="0" y="583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4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8578" y="4675747"/>
            <a:ext cx="5309093" cy="1882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788" indent="-250894" lvl="1">
              <a:lnSpc>
                <a:spcPts val="3788"/>
              </a:lnSpc>
              <a:buFont typeface="Arial"/>
              <a:buChar char="•"/>
            </a:pPr>
            <a:r>
              <a:rPr lang="en-US" sz="2324" spc="-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Some topics show slight differences in engagement</a:t>
            </a:r>
          </a:p>
          <a:p>
            <a:pPr algn="l" marL="501788" indent="-250894" lvl="1">
              <a:lnSpc>
                <a:spcPts val="3788"/>
              </a:lnSpc>
              <a:buFont typeface="Arial"/>
              <a:buChar char="•"/>
            </a:pPr>
            <a:r>
              <a:rPr lang="en-US" sz="2324" spc="-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topic consistently dominates performance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3413" y="3943783"/>
            <a:ext cx="3529193" cy="53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b="true" sz="3153" spc="-20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KEY INSIGHT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72618" y="895350"/>
            <a:ext cx="13342765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Impact on Engagement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2259" y="9201150"/>
            <a:ext cx="15617041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spc="-32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Content quality matters more than topic category on Tumblr.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15436" y="710149"/>
            <a:ext cx="1345712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Model Performance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750478" y="3384559"/>
            <a:ext cx="3517882" cy="351788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84623" y="3384559"/>
            <a:ext cx="3517882" cy="35178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019640" y="3384559"/>
            <a:ext cx="3517882" cy="351788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108" lIns="40108" bIns="40108" rIns="4010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17125" y="4141844"/>
            <a:ext cx="3081637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b="true" sz="3499" spc="-1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REDDIT: </a:t>
            </a:r>
          </a:p>
          <a:p>
            <a:pPr algn="ctr">
              <a:lnSpc>
                <a:spcPts val="4514"/>
              </a:lnSpc>
            </a:pPr>
            <a:r>
              <a:rPr lang="en-US" b="true" sz="3499" spc="-1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~81% ACCURACY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99016" y="4239577"/>
            <a:ext cx="2689968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b="true" sz="3499" spc="-1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TUMBLR: ~78% ACCURACY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73131" y="4274725"/>
            <a:ext cx="2210900" cy="2092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4"/>
              </a:lnSpc>
            </a:pPr>
            <a:r>
              <a:rPr lang="en-US" b="true" sz="3499" spc="-1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XGBOOST MODEL USED</a:t>
            </a:r>
          </a:p>
          <a:p>
            <a:pPr algn="ctr">
              <a:lnSpc>
                <a:spcPts val="272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297397" y="3384559"/>
            <a:ext cx="701365" cy="701365"/>
            <a:chOff x="0" y="0"/>
            <a:chExt cx="935153" cy="93515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935153" cy="935153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64897" y="218848"/>
              <a:ext cx="605360" cy="459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7"/>
                </a:lnSpc>
              </a:pPr>
              <a:r>
                <a:rPr lang="en-US" sz="2091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31541" y="3384559"/>
            <a:ext cx="701365" cy="701365"/>
            <a:chOff x="0" y="0"/>
            <a:chExt cx="935153" cy="935153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935153" cy="935153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164897" y="218848"/>
              <a:ext cx="605360" cy="459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7"/>
                </a:lnSpc>
              </a:pPr>
              <a:r>
                <a:rPr lang="en-US" sz="2091" spc="-6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l="0" r="100000" t="0" b="100000"/>
                    </a:path>
                    <a:tileRect r="0" l="-100000" b="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43712" y="3384559"/>
            <a:ext cx="701365" cy="701365"/>
            <a:chOff x="0" y="0"/>
            <a:chExt cx="935153" cy="93515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935153" cy="935153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64897" y="218848"/>
              <a:ext cx="605360" cy="459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97"/>
                </a:lnSpc>
              </a:pPr>
              <a:r>
                <a:rPr lang="en-US" sz="2091" spc="-6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42259" y="8239125"/>
            <a:ext cx="1561704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spc="-29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Model performance shows that Tumblr engagement is more variable and harder to predict, confirming platform-specific differences.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410552" y="895350"/>
            <a:ext cx="1345712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Summarizing Our Key 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0909" y="3860234"/>
            <a:ext cx="1649304" cy="164930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3490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25925" y="3701561"/>
            <a:ext cx="2888628" cy="98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330" spc="-33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SENTIMENT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5561" y="3886689"/>
            <a:ext cx="1620365" cy="255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7"/>
              </a:lnSpc>
            </a:pPr>
            <a:r>
              <a:rPr lang="en-US" sz="2147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1.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529365" y="3860234"/>
            <a:ext cx="1649304" cy="164930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34902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505102" y="3701561"/>
            <a:ext cx="2888628" cy="98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330" spc="-33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CONTENT &amp; TOPIC INSIGHT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54017" y="3886689"/>
            <a:ext cx="2342342" cy="255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7"/>
              </a:lnSpc>
            </a:pPr>
            <a:r>
              <a:rPr lang="en-US" sz="2147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2.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895511" y="3860234"/>
            <a:ext cx="1649304" cy="164930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34902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718464" y="3701561"/>
            <a:ext cx="2888628" cy="98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6"/>
              </a:lnSpc>
            </a:pPr>
            <a:r>
              <a:rPr lang="en-US" sz="3330" spc="-33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MODEL PERFORMANCE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20163" y="3886689"/>
            <a:ext cx="2061573" cy="255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7"/>
              </a:lnSpc>
            </a:pPr>
            <a:r>
              <a:rPr lang="en-US" sz="2147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5400000"/>
                </a:gradFill>
                <a:latin typeface="Anton"/>
                <a:ea typeface="Anton"/>
                <a:cs typeface="Anton"/>
                <a:sym typeface="Anton"/>
              </a:rPr>
              <a:t>3.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25925" y="4740282"/>
            <a:ext cx="2516786" cy="219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b="true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 Bold"/>
                <a:ea typeface="Arial Unicode Bold"/>
                <a:cs typeface="Arial Unicode Bold"/>
                <a:sym typeface="Arial Unicode Bold"/>
              </a:rPr>
              <a:t>Reddit:</a:t>
            </a: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 emotional content drives higher engagement</a:t>
            </a:r>
          </a:p>
          <a:p>
            <a:pPr algn="l">
              <a:lnSpc>
                <a:spcPts val="2479"/>
              </a:lnSpc>
            </a:pPr>
            <a:r>
              <a:rPr lang="en-US" b="true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 Bold"/>
                <a:ea typeface="Arial Unicode Bold"/>
                <a:cs typeface="Arial Unicode Bold"/>
                <a:sym typeface="Arial Unicode Bold"/>
              </a:rPr>
              <a:t>Tumblr:</a:t>
            </a: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 neutral and descriptive content performs better</a:t>
            </a:r>
          </a:p>
          <a:p>
            <a:pPr algn="l">
              <a:lnSpc>
                <a:spcPts val="24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505102" y="4768889"/>
            <a:ext cx="2516786" cy="219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b="true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 Bold"/>
                <a:ea typeface="Arial Unicode Bold"/>
                <a:cs typeface="Arial Unicode Bold"/>
                <a:sym typeface="Arial Unicode Bold"/>
              </a:rPr>
              <a:t>Reddit:</a:t>
            </a: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 Q&amp;A and interactive posts perform best</a:t>
            </a:r>
          </a:p>
          <a:p>
            <a:pPr algn="l">
              <a:lnSpc>
                <a:spcPts val="2479"/>
              </a:lnSpc>
            </a:pPr>
            <a:r>
              <a:rPr lang="en-US" b="true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 Bold"/>
                <a:ea typeface="Arial Unicode Bold"/>
                <a:cs typeface="Arial Unicode Bold"/>
                <a:sym typeface="Arial Unicode Bold"/>
              </a:rPr>
              <a:t>Tumblr:</a:t>
            </a: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 engagement depends more on content quality than topic</a:t>
            </a:r>
          </a:p>
          <a:p>
            <a:pPr algn="l">
              <a:lnSpc>
                <a:spcPts val="247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718464" y="4921289"/>
            <a:ext cx="2516786" cy="219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XGBoost achieved strong prediction accuracy</a:t>
            </a:r>
          </a:p>
          <a:p>
            <a:pPr algn="l">
              <a:lnSpc>
                <a:spcPts val="2479"/>
              </a:lnSpc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Reddit: ~81%</a:t>
            </a:r>
          </a:p>
          <a:p>
            <a:pPr algn="l">
              <a:lnSpc>
                <a:spcPts val="2479"/>
              </a:lnSpc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Tumblr: ~78%</a:t>
            </a:r>
          </a:p>
          <a:p>
            <a:pPr algn="l">
              <a:lnSpc>
                <a:spcPts val="2479"/>
              </a:lnSpc>
            </a:pPr>
            <a:r>
              <a:rPr lang="en-US" sz="1770" spc="-17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rial Unicode"/>
                <a:ea typeface="Arial Unicode"/>
                <a:cs typeface="Arial Unicode"/>
                <a:sym typeface="Arial Unicode"/>
              </a:rPr>
              <a:t>Tumblr engagement is harder to predict</a:t>
            </a:r>
          </a:p>
          <a:p>
            <a:pPr algn="l">
              <a:lnSpc>
                <a:spcPts val="247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448517" y="9201150"/>
            <a:ext cx="1738119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spc="-31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Engagement drivers vary significantly across platforms.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15436" y="710149"/>
            <a:ext cx="13457128" cy="187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Recommendation: Use Our App</a:t>
            </a:r>
          </a:p>
          <a:p>
            <a:pPr algn="ctr">
              <a:lnSpc>
                <a:spcPts val="5880"/>
              </a:lnSpc>
            </a:pPr>
            <a:r>
              <a:rPr lang="en-US" b="true" sz="420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From Insights to Action: Powered by Notecount.AI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158306"/>
            <a:ext cx="7316613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2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PREDICT ENGAGEMENT BEFORE POSTING</a:t>
            </a:r>
          </a:p>
          <a:p>
            <a:pPr algn="l" marL="474978" indent="-237489" lvl="1">
              <a:lnSpc>
                <a:spcPts val="2639"/>
              </a:lnSpc>
              <a:buFont typeface="Arial"/>
              <a:buChar char="•"/>
            </a:pP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72631"/>
            <a:ext cx="8745949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Real-time score 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-2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Identify weak content early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44707"/>
            <a:ext cx="763993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2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UNDERSTAND WHY CONTENT UNDERPERFORMSS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968557"/>
            <a:ext cx="874594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1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Sentiment, topic, and structure breakdown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1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Model explains key drivers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31108"/>
            <a:ext cx="874594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2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OPTIMIZE CONTENT INSTANTLY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54958"/>
            <a:ext cx="874594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1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AI suggestions to improve engagement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 spc="-1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Rewrite captions for better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404100"/>
            <a:ext cx="874594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b="true" sz="2199" spc="-2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MOVE FROM GUESSWORK → DATA-DRIVEN POSTING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706666" y="3520256"/>
            <a:ext cx="4630031" cy="4638464"/>
          </a:xfrm>
          <a:custGeom>
            <a:avLst/>
            <a:gdLst/>
            <a:ahLst/>
            <a:cxnLst/>
            <a:rect r="r" b="b" t="t" l="l"/>
            <a:pathLst>
              <a:path h="4638464" w="4630031">
                <a:moveTo>
                  <a:pt x="0" y="0"/>
                </a:moveTo>
                <a:lnTo>
                  <a:pt x="4630030" y="0"/>
                </a:lnTo>
                <a:lnTo>
                  <a:pt x="4630030" y="4638465"/>
                </a:lnTo>
                <a:lnTo>
                  <a:pt x="0" y="46384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911378" y="4606607"/>
            <a:ext cx="381001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-19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Notecount.AI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3401" y="9035021"/>
            <a:ext cx="1738119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spc="-31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Manual analysis is not scalable but our app automates this.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7836" y="862549"/>
            <a:ext cx="1345712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Limitations &amp;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60876" y="3378722"/>
            <a:ext cx="8625912" cy="51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4"/>
              </a:lnSpc>
            </a:pPr>
            <a:r>
              <a:rPr lang="en-US" sz="2846" spc="-7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Focused only on travel-related content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60876" y="4554283"/>
            <a:ext cx="8625912" cy="51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4"/>
              </a:lnSpc>
            </a:pPr>
            <a:r>
              <a:rPr lang="en-US" sz="2846" spc="-7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Limited number of high-engagement posts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60876" y="5729174"/>
            <a:ext cx="8625912" cy="51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4"/>
              </a:lnSpc>
            </a:pPr>
            <a:r>
              <a:rPr lang="en-US" sz="2846" spc="-7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Simple features (TF-IDF, sentiment, topics)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60876" y="6904064"/>
            <a:ext cx="8625912" cy="51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4"/>
              </a:lnSpc>
            </a:pPr>
            <a:r>
              <a:rPr lang="en-US" sz="2846" spc="-7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May not generalize to other platforms or domains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191188" y="3395774"/>
            <a:ext cx="579984" cy="579984"/>
          </a:xfrm>
          <a:custGeom>
            <a:avLst/>
            <a:gdLst/>
            <a:ahLst/>
            <a:cxnLst/>
            <a:rect r="r" b="b" t="t" l="l"/>
            <a:pathLst>
              <a:path h="579984" w="579984">
                <a:moveTo>
                  <a:pt x="0" y="0"/>
                </a:moveTo>
                <a:lnTo>
                  <a:pt x="579984" y="0"/>
                </a:lnTo>
                <a:lnTo>
                  <a:pt x="579984" y="579984"/>
                </a:lnTo>
                <a:lnTo>
                  <a:pt x="0" y="579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91188" y="4571335"/>
            <a:ext cx="579984" cy="579984"/>
          </a:xfrm>
          <a:custGeom>
            <a:avLst/>
            <a:gdLst/>
            <a:ahLst/>
            <a:cxnLst/>
            <a:rect r="r" b="b" t="t" l="l"/>
            <a:pathLst>
              <a:path h="579984" w="579984">
                <a:moveTo>
                  <a:pt x="0" y="0"/>
                </a:moveTo>
                <a:lnTo>
                  <a:pt x="579984" y="0"/>
                </a:lnTo>
                <a:lnTo>
                  <a:pt x="579984" y="579983"/>
                </a:lnTo>
                <a:lnTo>
                  <a:pt x="0" y="579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91188" y="5746896"/>
            <a:ext cx="579984" cy="579984"/>
          </a:xfrm>
          <a:custGeom>
            <a:avLst/>
            <a:gdLst/>
            <a:ahLst/>
            <a:cxnLst/>
            <a:rect r="r" b="b" t="t" l="l"/>
            <a:pathLst>
              <a:path h="579984" w="579984">
                <a:moveTo>
                  <a:pt x="0" y="0"/>
                </a:moveTo>
                <a:lnTo>
                  <a:pt x="579984" y="0"/>
                </a:lnTo>
                <a:lnTo>
                  <a:pt x="579984" y="579983"/>
                </a:lnTo>
                <a:lnTo>
                  <a:pt x="0" y="5799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91188" y="6925545"/>
            <a:ext cx="579984" cy="579984"/>
          </a:xfrm>
          <a:custGeom>
            <a:avLst/>
            <a:gdLst/>
            <a:ahLst/>
            <a:cxnLst/>
            <a:rect r="r" b="b" t="t" l="l"/>
            <a:pathLst>
              <a:path h="579984" w="579984">
                <a:moveTo>
                  <a:pt x="0" y="0"/>
                </a:moveTo>
                <a:lnTo>
                  <a:pt x="579984" y="0"/>
                </a:lnTo>
                <a:lnTo>
                  <a:pt x="579984" y="579984"/>
                </a:lnTo>
                <a:lnTo>
                  <a:pt x="0" y="579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32490" y="3165676"/>
            <a:ext cx="3863685" cy="4569950"/>
          </a:xfrm>
          <a:custGeom>
            <a:avLst/>
            <a:gdLst/>
            <a:ahLst/>
            <a:cxnLst/>
            <a:rect r="r" b="b" t="t" l="l"/>
            <a:pathLst>
              <a:path h="4569950" w="3863685">
                <a:moveTo>
                  <a:pt x="0" y="0"/>
                </a:moveTo>
                <a:lnTo>
                  <a:pt x="3863686" y="0"/>
                </a:lnTo>
                <a:lnTo>
                  <a:pt x="3863686" y="4569951"/>
                </a:lnTo>
                <a:lnTo>
                  <a:pt x="0" y="4569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67836" y="862549"/>
            <a:ext cx="13457128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Key Takeaway</a:t>
            </a:r>
          </a:p>
        </p:txBody>
      </p:sp>
      <p:sp>
        <p:nvSpPr>
          <p:cNvPr name="AutoShape 3" id="3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10143" y="7434718"/>
            <a:ext cx="14067714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Notecount.AI turns this insight into actionable, predictive decisions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6514" y="3630634"/>
            <a:ext cx="4247608" cy="113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2"/>
              </a:lnSpc>
            </a:pPr>
            <a:r>
              <a:rPr lang="en-US" sz="48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Tumblr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6514" y="4166130"/>
            <a:ext cx="4247608" cy="207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1"/>
              </a:lnSpc>
            </a:pPr>
          </a:p>
          <a:p>
            <a:pPr algn="ctr">
              <a:lnSpc>
                <a:spcPts val="5571"/>
              </a:lnSpc>
            </a:pPr>
            <a:r>
              <a:rPr lang="en-US" sz="2799" b="true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Write descriptive, neutral-toned 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72596" y="3630634"/>
            <a:ext cx="4247608" cy="113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2"/>
              </a:lnSpc>
            </a:pPr>
            <a:r>
              <a:rPr lang="en-US" sz="48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Reddit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72596" y="4870980"/>
            <a:ext cx="4247608" cy="136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1"/>
              </a:lnSpc>
            </a:pPr>
            <a:r>
              <a:rPr lang="en-US" sz="2799" b="true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Lead with emotion &amp; interaction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11692" y="3600694"/>
            <a:ext cx="4247608" cy="113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2"/>
              </a:lnSpc>
            </a:pPr>
            <a:r>
              <a:rPr lang="en-US" sz="4800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Both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11692" y="4841039"/>
            <a:ext cx="4247608" cy="136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1"/>
              </a:lnSpc>
            </a:pPr>
            <a:r>
              <a:rPr lang="en-US" sz="2799" b="true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Use data before you post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4247" y="4477067"/>
            <a:ext cx="13457128" cy="1486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9"/>
              </a:lnSpc>
            </a:pPr>
            <a:r>
              <a:rPr lang="en-US" b="true" sz="8599" u="sng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  <a:hlinkClick r:id="rId2" tooltip="https://tumblr-ai.vercel.app/app"/>
              </a:rPr>
              <a:t>Notecount.AI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5479" y="1589807"/>
            <a:ext cx="15617041" cy="164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b="true" sz="9600" spc="-96">
                <a:solidFill>
                  <a:srgbClr val="004AAD"/>
                </a:solidFill>
                <a:latin typeface="Arial Unicode Bold"/>
                <a:ea typeface="Arial Unicode Bold"/>
                <a:cs typeface="Arial Unicode Bold"/>
                <a:sym typeface="Arial Unicode Bold"/>
              </a:rPr>
              <a:t>Let’s check out our App!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234612"/>
            <a:ext cx="18720747" cy="0"/>
          </a:xfrm>
          <a:prstGeom prst="line">
            <a:avLst/>
          </a:prstGeom>
          <a:ln cap="flat" w="104775">
            <a:solidFill>
              <a:srgbClr val="1FB7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060111" y="3391217"/>
            <a:ext cx="12590371" cy="337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b="true" sz="63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From normal posts to posts with a motive, that’s the power of Notecount.AI.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228578" y="-7837248"/>
            <a:ext cx="23751801" cy="10443500"/>
          </a:xfrm>
          <a:custGeom>
            <a:avLst/>
            <a:gdLst/>
            <a:ahLst/>
            <a:cxnLst/>
            <a:rect r="r" b="b" t="t" l="l"/>
            <a:pathLst>
              <a:path h="10443500" w="23751801">
                <a:moveTo>
                  <a:pt x="0" y="0"/>
                </a:moveTo>
                <a:lnTo>
                  <a:pt x="23751801" y="0"/>
                </a:lnTo>
                <a:lnTo>
                  <a:pt x="23751801" y="10443500"/>
                </a:lnTo>
                <a:lnTo>
                  <a:pt x="0" y="104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DAHHymgtlDs</dc:identifier>
  <dcterms:modified xsi:type="dcterms:W3CDTF">2011-08-01T06:04:30Z</dcterms:modified>
  <cp:revision>1</cp:revision>
  <dc:title>Blue White Geometric Minimalist Thesis Defense Presentation</dc:title>
</cp:coreProperties>
</file>